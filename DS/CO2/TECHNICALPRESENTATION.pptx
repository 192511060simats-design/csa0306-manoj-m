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Kanit Light" panose="020B0604020202020204" charset="-34"/>
      <p:regular r:id="rId17"/>
    </p:embeddedFont>
    <p:embeddedFont>
      <p:font typeface="Martel Sans" panose="020B0604020202020204" charset="0"/>
      <p:regular r:id="rId18"/>
    </p:embeddedFont>
    <p:embeddedFont>
      <p:font typeface="Martel Sans Bold" panose="020B0604020202020204" charset="0"/>
      <p:regular r:id="rId19"/>
    </p:embeddedFont>
    <p:embeddedFont>
      <p:font typeface="Tw Cen MT" panose="020B0602020104020603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54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739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777287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1279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21423"/>
            <a:ext cx="7763814" cy="2052614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743093"/>
            <a:ext cx="7763814" cy="102613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07629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382952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1775320"/>
            <a:ext cx="382905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0217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1778263"/>
            <a:ext cx="3655106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2288260"/>
            <a:ext cx="3829520" cy="205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1778263"/>
            <a:ext cx="3661353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2288260"/>
            <a:ext cx="3829051" cy="205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39046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7715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4783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2951766" cy="151743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457201"/>
            <a:ext cx="4650122" cy="3886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1974639"/>
            <a:ext cx="2951767" cy="2368761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1088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4451227" cy="1517441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2" y="457201"/>
            <a:ext cx="2441519" cy="38862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1974639"/>
            <a:ext cx="4451212" cy="2368760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6939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217030"/>
            <a:ext cx="7773324" cy="60870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523696"/>
            <a:ext cx="7366899" cy="2410602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831546"/>
            <a:ext cx="7773339" cy="511854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11381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2570434"/>
          </a:xfrm>
        </p:spPr>
        <p:txBody>
          <a:bodyPr anchor="ctr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153616"/>
            <a:ext cx="7773339" cy="118978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5738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4460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279597"/>
            <a:ext cx="7773339" cy="10657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751116" y="56562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169" y="22451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042315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604041"/>
            <a:ext cx="7773339" cy="1883876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496751"/>
            <a:ext cx="777333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43335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1203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2474232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207517"/>
            <a:ext cx="2474232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1775320"/>
            <a:ext cx="246864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207517"/>
            <a:ext cx="2477513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775320"/>
            <a:ext cx="24786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207517"/>
            <a:ext cx="2478696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28775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458079"/>
            <a:ext cx="7773339" cy="12029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3153615"/>
            <a:ext cx="247230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1775320"/>
            <a:ext cx="2472307" cy="1143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3585811"/>
            <a:ext cx="2472307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3153615"/>
            <a:ext cx="247637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1775320"/>
            <a:ext cx="2477514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85811"/>
            <a:ext cx="2477514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3153615"/>
            <a:ext cx="247551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1775320"/>
            <a:ext cx="2478696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3585809"/>
            <a:ext cx="2478790" cy="757591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373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1775320"/>
            <a:ext cx="7773339" cy="2568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90562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1"/>
            <a:ext cx="1914995" cy="38861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457201"/>
            <a:ext cx="5744043" cy="3886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92890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4499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7773339" cy="256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78585F62-9E01-4157-8D13-65F75202360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4412457"/>
            <a:ext cx="50046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7316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E0D9B9A7-028C-4F88-828C-81CAEE05A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161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7908" y="830067"/>
            <a:ext cx="8574216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IN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Data Structure: Arrays vs Linked Lists</a:t>
            </a:r>
            <a:endParaRPr lang="en-US" sz="275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888390" y="3357074"/>
            <a:ext cx="25832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Presented By: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	 Manoj(192511060)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18C01F95-1124-559C-A016-CE15675DCD49}"/>
              </a:ext>
            </a:extLst>
          </p:cNvPr>
          <p:cNvSpPr/>
          <p:nvPr/>
        </p:nvSpPr>
        <p:spPr>
          <a:xfrm>
            <a:off x="904013" y="3200646"/>
            <a:ext cx="25832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Guided By: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Dr M Shakila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1332"/>
            <a:ext cx="4722763" cy="3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Introduction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3925119" y="964109"/>
            <a:ext cx="308967" cy="30896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6613" y="1015603"/>
            <a:ext cx="205978" cy="20597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67064" y="1011287"/>
            <a:ext cx="428081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is a data structure?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367064" y="1305595"/>
            <a:ext cx="428081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Organised way to store and manage data for efficient access and modification.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3925119" y="2004268"/>
            <a:ext cx="308967" cy="30896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6613" y="2055763"/>
            <a:ext cx="205978" cy="2059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67064" y="2051447"/>
            <a:ext cx="428081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367064" y="2345754"/>
            <a:ext cx="428081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Impacts speed, memory and maintainability of programs.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925119" y="2828106"/>
            <a:ext cx="308967" cy="30896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6613" y="2879601"/>
            <a:ext cx="205978" cy="20597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367064" y="2875285"/>
            <a:ext cx="428081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Real-world motivation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367064" y="3169593"/>
            <a:ext cx="428081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Selecting the right structure solves performance bottlenecks and simplifies code.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60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Understanding Arrays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909" y="1517891"/>
            <a:ext cx="268805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Definition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6119" y="1829172"/>
            <a:ext cx="4707893" cy="604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Collection of elements stored in contiguous memory and accessed by index.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0863" y="2552476"/>
            <a:ext cx="268805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8213" y="2873709"/>
            <a:ext cx="5303511" cy="999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O(1) random access by index</a:t>
            </a:r>
            <a:endParaRPr lang="en-US" sz="14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Memory locality — cache friendly</a:t>
            </a:r>
            <a:endParaRPr lang="en-US" sz="14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Simple implementation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6119" y="3852123"/>
            <a:ext cx="268805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9691" y="4227723"/>
            <a:ext cx="2688059" cy="315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Fixed size (static arrays) or costly resize</a:t>
            </a:r>
            <a:endParaRPr lang="en-US" sz="12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Insertion/deletion in middle is O(n)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724" y="1455092"/>
            <a:ext cx="3132552" cy="29304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60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Understanding Linked Lists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6119" y="1445642"/>
            <a:ext cx="268805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684734"/>
            <a:ext cx="268805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collection of nodes where each node contains data and a pointer to the next node.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6119" y="2050033"/>
            <a:ext cx="268805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Node structure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6119" y="2289125"/>
            <a:ext cx="314525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Typically: { data, next }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96119" y="2509986"/>
            <a:ext cx="268805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Advantages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6119" y="2749079"/>
            <a:ext cx="2688059" cy="315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Dynamic size — easy to grow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O(1) insertion/deletion given a node reference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6119" y="3141092"/>
            <a:ext cx="268805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Disadvantages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6119" y="3380184"/>
            <a:ext cx="2688059" cy="315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O(n) access by index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Poor locality — more pointer overhead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42841" y="841177"/>
            <a:ext cx="520972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Memory layout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42841" y="1080269"/>
            <a:ext cx="566692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Nodes allocated non-contiguously; each has a pointer to the next node.</a:t>
            </a:r>
            <a:endParaRPr lang="en-US" sz="8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841" y="1310655"/>
            <a:ext cx="5209729" cy="29304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9955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Arrays vs Linked Lists — Side-by-side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227832"/>
            <a:ext cx="8151763" cy="2372469"/>
          </a:xfrm>
          <a:prstGeom prst="roundRect">
            <a:avLst>
              <a:gd name="adj" fmla="val 251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2095054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733080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129656" y="1227832"/>
            <a:ext cx="8860" cy="237246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432349" y="1227832"/>
            <a:ext cx="8860" cy="237246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35041" y="1227832"/>
            <a:ext cx="8860" cy="237246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37734" y="1227832"/>
            <a:ext cx="8860" cy="237246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40426" y="1227832"/>
            <a:ext cx="8860" cy="237246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1253" y="1232595"/>
            <a:ext cx="1628403" cy="862459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2" name="Text 10"/>
          <p:cNvSpPr/>
          <p:nvPr/>
        </p:nvSpPr>
        <p:spPr>
          <a:xfrm>
            <a:off x="643012" y="1322412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Aspect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73796" y="1322412"/>
            <a:ext cx="101441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Memory allocation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76489" y="1322412"/>
            <a:ext cx="14716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Access speed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9181" y="1322412"/>
            <a:ext cx="14716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Insertion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1874" y="1322412"/>
            <a:ext cx="14716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Deletion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84566" y="1322412"/>
            <a:ext cx="101679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Ease of implementation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3012" y="2187253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Arrays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73796" y="2187253"/>
            <a:ext cx="14716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Contiguous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76489" y="2187253"/>
            <a:ext cx="14716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O(1)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79181" y="2187253"/>
            <a:ext cx="101441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O(n) (shift elements)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1874" y="2187253"/>
            <a:ext cx="14716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O(n)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84566" y="2187253"/>
            <a:ext cx="147399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Simple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3012" y="2825279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Linked Lists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73796" y="2825279"/>
            <a:ext cx="101441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Non-contiguous (nodes)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76489" y="2825279"/>
            <a:ext cx="14716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O(n)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79181" y="2825279"/>
            <a:ext cx="101441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O(1) with pointer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81874" y="2825279"/>
            <a:ext cx="101441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O(1) with pointer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84566" y="2825279"/>
            <a:ext cx="101679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Moderate — pointers required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083"/>
            <a:ext cx="8151763" cy="315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Time Complexity (Big O)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09799"/>
            <a:ext cx="3921844" cy="28228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0800" y="984498"/>
            <a:ext cx="437904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Brief notes: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730800" y="1276648"/>
            <a:ext cx="3921844" cy="1263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Access: arrays O(1) due to indexing; lists require traversal O(n).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Search: linear time for unsorted data in both structures.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Insert/Delete: linked lists excel when you already have a node pointer.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Resizing arrays can add amortised cost (dynamic arrays).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644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Real-World Applications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98041"/>
            <a:ext cx="422597" cy="4225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4465" y="998041"/>
            <a:ext cx="134272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Image processing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74465" y="1280443"/>
            <a:ext cx="1342727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Arrays (2D) store pixel grids for fast indexed access and cache efficiency.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941" y="998041"/>
            <a:ext cx="422597" cy="4225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51287" y="998041"/>
            <a:ext cx="134280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Student records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151287" y="1280443"/>
            <a:ext cx="1342802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Arrays for indexed lookup; linked lists for flexible insertion in streaming systems.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837" y="998041"/>
            <a:ext cx="422597" cy="4225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28183" y="998041"/>
            <a:ext cx="134280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Music playlist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228183" y="1280443"/>
            <a:ext cx="1342802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Linked lists (or dynamic arrays) handle reorder and insert operations smoothly.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734" y="998041"/>
            <a:ext cx="422597" cy="42259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05080" y="998041"/>
            <a:ext cx="134280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Browser history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7305080" y="1280443"/>
            <a:ext cx="1342802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Doubly linked lists enable back/forward traversal with O(1) insertions.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2559472"/>
            <a:ext cx="422597" cy="42259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74465" y="2559472"/>
            <a:ext cx="134272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Undo / Redo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1074465" y="2841873"/>
            <a:ext cx="1342727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Often implemented with linked structures or arrays depending on access patterns.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Choosing the Right Data Structure</a:t>
            </a:r>
            <a:endParaRPr lang="en-US" sz="1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637877"/>
            <a:ext cx="8020050" cy="394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6392" y="1007489"/>
            <a:ext cx="1834120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Choose Structure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486392" y="1301967"/>
            <a:ext cx="370899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Array, Linked List, or Vector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486392" y="1928625"/>
            <a:ext cx="1969514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Frequent Middle Inserts?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486392" y="2223103"/>
            <a:ext cx="370899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Consider insertion cost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486392" y="2849760"/>
            <a:ext cx="1834120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Fast Random Access?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486392" y="3144239"/>
            <a:ext cx="370899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Prioritise access speed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494543" y="3770896"/>
            <a:ext cx="1834120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Start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494543" y="4065375"/>
            <a:ext cx="370899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Choose data structure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5191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Live Code Example (C)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16391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Array (static)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544836"/>
            <a:ext cx="3902943" cy="1190774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9049" y="1544836"/>
            <a:ext cx="3917082" cy="1190774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66229" y="1686595"/>
            <a:ext cx="35627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arr[5] = {1,2,3,4,5};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printf("%d\n", arr[2]); // O(1) access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16391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Singly Linked List (insert head)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49701" y="1544836"/>
            <a:ext cx="3902943" cy="1644402"/>
          </a:xfrm>
          <a:prstGeom prst="roundRect">
            <a:avLst>
              <a:gd name="adj" fmla="val 3621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4742631" y="1544836"/>
            <a:ext cx="3917082" cy="1644402"/>
          </a:xfrm>
          <a:prstGeom prst="roundRect">
            <a:avLst>
              <a:gd name="adj" fmla="val 1293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4919811" y="1686595"/>
            <a:ext cx="3562722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 { int data; struct Node* next; };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void push(struct Node** head, int val) {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Node* n = malloc(sizeof(*n));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n-&gt;data = val; n-&gt;next = *head; *head = n;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// O(1) insert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350817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Highlighted differences: indexing vs pointer traversal; memory allocation and deallocation required for lists.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4189"/>
            <a:ext cx="472276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 &amp; Q&amp;A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496119" y="969094"/>
            <a:ext cx="1482626" cy="2610669"/>
          </a:xfrm>
          <a:prstGeom prst="roundRect">
            <a:avLst>
              <a:gd name="adj" fmla="val 3953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4695" y="1127671"/>
            <a:ext cx="116547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takeaways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4695" y="1428080"/>
            <a:ext cx="1165473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Arrays: best for random access and contiguous storage. Linked lists: best for dynamic size and frequent insert/delete.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116113" y="969094"/>
            <a:ext cx="1482700" cy="2610669"/>
          </a:xfrm>
          <a:prstGeom prst="roundRect">
            <a:avLst>
              <a:gd name="adj" fmla="val 3953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74689" y="1127671"/>
            <a:ext cx="116554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Best practices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274689" y="1428080"/>
            <a:ext cx="1165547" cy="1993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Choose by access patterns: prefer arrays for indexing-heavy tasks and linked lists when pointer-based operations dominate.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736181" y="969094"/>
            <a:ext cx="1482700" cy="2610669"/>
          </a:xfrm>
          <a:prstGeom prst="roundRect">
            <a:avLst>
              <a:gd name="adj" fmla="val 3953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94758" y="1127671"/>
            <a:ext cx="116554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Questions?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894758" y="1428080"/>
            <a:ext cx="116554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Thank you — open for Q&amp;A.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10</TotalTime>
  <Words>639</Words>
  <Application>Microsoft Office PowerPoint</Application>
  <PresentationFormat>On-screen Show (16:9)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Times New Roman</vt:lpstr>
      <vt:lpstr>Arial</vt:lpstr>
      <vt:lpstr>Consolas</vt:lpstr>
      <vt:lpstr>Martel Sans</vt:lpstr>
      <vt:lpstr>Kanit Light</vt:lpstr>
      <vt:lpstr>Martel Sans Bold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Manoj M</cp:lastModifiedBy>
  <cp:revision>4</cp:revision>
  <dcterms:created xsi:type="dcterms:W3CDTF">2026-07-22T07:58:16Z</dcterms:created>
  <dcterms:modified xsi:type="dcterms:W3CDTF">2026-07-22T08:12:50Z</dcterms:modified>
</cp:coreProperties>
</file>