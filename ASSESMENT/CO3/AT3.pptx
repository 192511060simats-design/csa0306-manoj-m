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858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4102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4845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6222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8903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2713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7349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129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7668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0878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5832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964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65816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8209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0258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0065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34049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87065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73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08C5BD1-CB50-4F3D-B12D-FF4F57FB221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2AF9744-8C53-42A2-B6CC-DADABF03B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47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  <p:sldLayoutId id="2147483835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19628" y="780989"/>
            <a:ext cx="5272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STRUCTURES  TREE TRAVERSAL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29961" y="915953"/>
            <a:ext cx="992876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TREE TRAVERSAL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CHALLENGES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25463" y="3671316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37810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NAME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94343" y="3768171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Manoj 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0" y="42108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REGISTER NUMBER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03221" y="419125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192511060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4641423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CLASS / SECTION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94343" y="460977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B.E. CSE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54880" y="4986365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SUBJECT CODE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94343" y="49686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CSA0306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131AF3F3-1016-9D42-557E-B6CE41935DD4}"/>
              </a:ext>
            </a:extLst>
          </p:cNvPr>
          <p:cNvSpPr/>
          <p:nvPr/>
        </p:nvSpPr>
        <p:spPr>
          <a:xfrm>
            <a:off x="919263" y="3803218"/>
            <a:ext cx="2103120" cy="776080"/>
          </a:xfrm>
          <a:prstGeom prst="roundRect">
            <a:avLst>
              <a:gd name="adj" fmla="val 6486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25E139F1-4B88-632D-9590-3D0DF6234573}"/>
              </a:ext>
            </a:extLst>
          </p:cNvPr>
          <p:cNvSpPr/>
          <p:nvPr/>
        </p:nvSpPr>
        <p:spPr>
          <a:xfrm>
            <a:off x="1272240" y="403123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22D3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M Shakila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F91ADC-617E-3ACC-B25F-360B26A06EED}"/>
              </a:ext>
            </a:extLst>
          </p:cNvPr>
          <p:cNvSpPr txBox="1"/>
          <p:nvPr/>
        </p:nvSpPr>
        <p:spPr>
          <a:xfrm>
            <a:off x="4147579" y="2788277"/>
            <a:ext cx="715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905E04-85B6-C270-DFD7-0F3E433B1F66}"/>
              </a:ext>
            </a:extLst>
          </p:cNvPr>
          <p:cNvSpPr txBox="1"/>
          <p:nvPr/>
        </p:nvSpPr>
        <p:spPr>
          <a:xfrm>
            <a:off x="698739" y="3317063"/>
            <a:ext cx="13740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5C626B-210A-7AB2-0DEE-0C775EB714C0}"/>
              </a:ext>
            </a:extLst>
          </p:cNvPr>
          <p:cNvSpPr txBox="1"/>
          <p:nvPr/>
        </p:nvSpPr>
        <p:spPr>
          <a:xfrm>
            <a:off x="3818528" y="2985830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 By: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• 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Introduction to Tree Traversal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337560" cy="2423160"/>
          </a:xfrm>
          <a:prstGeom prst="roundRect">
            <a:avLst>
              <a:gd name="adj" fmla="val 4528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1417320" y="2331720"/>
            <a:ext cx="685800" cy="82296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2331720"/>
            <a:ext cx="685800" cy="82296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51560" y="3154680"/>
            <a:ext cx="365760" cy="82296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3154680"/>
            <a:ext cx="365760" cy="82296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423160" y="3154680"/>
            <a:ext cx="365760" cy="82296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3154680"/>
            <a:ext cx="365760" cy="82296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83664" y="2112264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83664" y="2112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97864" y="2935224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97864" y="2935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9464" y="2935224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9464" y="2935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" y="3758184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63624" y="3758184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63624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03704" y="3758184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03704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35224" y="3758184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35224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Tree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965960"/>
          <a:ext cx="7635240" cy="25146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11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Traversal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11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A11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→ Left → Right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/ serialize a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→ Root → Right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output of a BST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→ Right → Root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 free a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by Level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Shortest-path / BFS 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3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114800" y="4663440"/>
            <a:ext cx="7635240" cy="1508760"/>
          </a:xfrm>
          <a:prstGeom prst="roundRect">
            <a:avLst>
              <a:gd name="adj" fmla="val 7273"/>
            </a:avLst>
          </a:prstGeom>
          <a:solidFill>
            <a:srgbClr val="121B3E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3891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Traversal Techniques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389120" y="5138928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Preorder — Root → Left → Right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Inorder — Left → Root → Right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Postorder — Left → Right → Root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Level Order — Level by Level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 Challenges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•  TOOLING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Interactive Tools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139696" cy="3931920"/>
          </a:xfrm>
          <a:prstGeom prst="roundRect">
            <a:avLst>
              <a:gd name="adj" fmla="val 5983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130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D5AFE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VisuAlgo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17739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 visualiser
</a:t>
            </a: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FEATURE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animated traversal
</a:t>
            </a: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CHALLENGE-GEN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live traversal order for any built BST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61488" y="1874520"/>
            <a:ext cx="2139696" cy="3931920"/>
          </a:xfrm>
          <a:prstGeom prst="roundRect">
            <a:avLst>
              <a:gd name="adj" fmla="val 5983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80944" y="2130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D5AFE"/>
          </a:solidFill>
          <a:ln/>
        </p:spPr>
      </p:sp>
      <p:sp>
        <p:nvSpPr>
          <p:cNvPr id="12" name="Text 10"/>
          <p:cNvSpPr/>
          <p:nvPr/>
        </p:nvSpPr>
        <p:spPr>
          <a:xfrm>
            <a:off x="2980944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44368" y="27432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Tree Visualizer &amp; Converter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44368" y="3566160"/>
            <a:ext cx="17739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tree from array / values
</a:t>
            </a: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FEATURE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between array &amp; tree form
</a:t>
            </a: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CHALLENGE-GEN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produces a fresh tree to challenge students with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65776" y="1874520"/>
            <a:ext cx="2139696" cy="3931920"/>
          </a:xfrm>
          <a:prstGeom prst="roundRect">
            <a:avLst>
              <a:gd name="adj" fmla="val 5983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85232" y="2130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D5AFE"/>
          </a:solidFill>
          <a:ln/>
        </p:spPr>
      </p:sp>
      <p:sp>
        <p:nvSpPr>
          <p:cNvPr id="17" name="Text 15"/>
          <p:cNvSpPr/>
          <p:nvPr/>
        </p:nvSpPr>
        <p:spPr>
          <a:xfrm>
            <a:off x="52852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48656" y="27432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 Visualizations — USFCA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48656" y="3566160"/>
            <a:ext cx="17739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DS teaching visualiser
</a:t>
            </a: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FEATURE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Animates Pre / In / Post / Level order
</a:t>
            </a: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CHALLENGE-GEN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correct order after a student attempt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70064" y="1874520"/>
            <a:ext cx="2139696" cy="3931920"/>
          </a:xfrm>
          <a:prstGeom prst="roundRect">
            <a:avLst>
              <a:gd name="adj" fmla="val 5983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2130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D5AFE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52944" y="27432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LeetCode Tree Visualizer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552944" y="3566160"/>
            <a:ext cx="17739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tree from LeetCode-style input
</a:t>
            </a: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FEATURE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paste-and-view of any tree
</a:t>
            </a: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CHALLENGE-GEN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students verify traversal answers against real problems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74352" y="1874520"/>
            <a:ext cx="2139696" cy="3931920"/>
          </a:xfrm>
          <a:prstGeom prst="roundRect">
            <a:avLst>
              <a:gd name="adj" fmla="val 5983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93808" y="2130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D5AFE"/>
          </a:solidFill>
          <a:ln/>
        </p:spPr>
      </p:sp>
      <p:sp>
        <p:nvSpPr>
          <p:cNvPr id="27" name="Text 25"/>
          <p:cNvSpPr/>
          <p:nvPr/>
        </p:nvSpPr>
        <p:spPr>
          <a:xfrm>
            <a:off x="989380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57232" y="27432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Labs — IIT Hyderabad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857232" y="3566160"/>
            <a:ext cx="17739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Simulation-based DS lab
</a:t>
            </a: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FEATURE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experiments with auto-evaluation
</a:t>
            </a:r>
            <a:r>
              <a:rPr lang="en-US" sz="105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CHALLENGE-GEN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Auto-checks a student's predicted traversal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 Challenges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•  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How to Generate a Traversal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642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D5AFE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240280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enter a tree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32504" y="19888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79392" y="146304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6642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D5AFE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02352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240280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traversal type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54696" y="19888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16642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24544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02752" y="2240280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 auto-generated answer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34015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D5AFE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80160" y="3419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3977640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student to predict 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032504" y="37261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279392" y="320040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34015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D5AFE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102352" y="3419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3977640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the correct traversal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854696" y="37261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101584" y="3200400"/>
            <a:ext cx="3566160" cy="1417320"/>
          </a:xfrm>
          <a:prstGeom prst="roundRect">
            <a:avLst>
              <a:gd name="adj" fmla="val 9032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02752" y="34015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D5AFE"/>
          </a:solidFill>
          <a:ln/>
        </p:spPr>
      </p:sp>
      <p:sp>
        <p:nvSpPr>
          <p:cNvPr id="35" name="Text 33"/>
          <p:cNvSpPr/>
          <p:nvPr/>
        </p:nvSpPr>
        <p:spPr>
          <a:xfrm>
            <a:off x="8302752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924544" y="3419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02752" y="3977640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student vs simulator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57200" y="4983480"/>
            <a:ext cx="11247120" cy="1051560"/>
          </a:xfrm>
          <a:prstGeom prst="roundRect">
            <a:avLst>
              <a:gd name="adj" fmla="val 10435"/>
            </a:avLst>
          </a:prstGeom>
          <a:solidFill>
            <a:srgbClr val="121B3E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3232" y="5093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" y="5440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[50, 30, 70, 20, 40, 60, 80]      </a:t>
            </a:r>
            <a:r>
              <a:rPr lang="en-US" sz="1500" b="1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</a:t>
            </a: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the Inorder traversal?”      </a:t>
            </a:r>
            <a:r>
              <a:rPr lang="en-US" sz="14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hidden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 Challenges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4688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Preorder Traversal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25880"/>
            <a:ext cx="2971800" cy="411480"/>
          </a:xfrm>
          <a:prstGeom prst="roundRect">
            <a:avLst>
              <a:gd name="adj" fmla="val 17778"/>
            </a:avLst>
          </a:prstGeom>
          <a:solidFill>
            <a:srgbClr val="16214A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→ Left → Right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PREORDER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Answer:  </a:t>
            </a:r>
            <a:r>
              <a:rPr lang="en-US" sz="1500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2788920" cy="9144"/>
          </a:xfrm>
          <a:prstGeom prst="line">
            <a:avLst/>
          </a:prstGeom>
          <a:noFill/>
          <a:ln w="12700">
            <a:solidFill>
              <a:srgbClr val="3A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703320"/>
            <a:ext cx="2971800" cy="1417320"/>
          </a:xfrm>
          <a:prstGeom prst="roundRect">
            <a:avLst>
              <a:gd name="adj" fmla="val 7742"/>
            </a:avLst>
          </a:prstGeom>
          <a:solidFill>
            <a:srgbClr val="1B2A17"/>
          </a:solidFill>
          <a:ln w="15875">
            <a:solidFill>
              <a:srgbClr val="6FCF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8313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ANSWER REVEAL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160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→ 30 → 20 → 40 →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→ 60 → 80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06240" y="1051560"/>
            <a:ext cx="7498080" cy="3017520"/>
          </a:xfrm>
          <a:prstGeom prst="roundRect">
            <a:avLst>
              <a:gd name="adj" fmla="val 3636"/>
            </a:avLst>
          </a:prstGeom>
          <a:solidFill>
            <a:srgbClr val="0E1636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 flipV="1">
            <a:off x="6537960" y="1691640"/>
            <a:ext cx="164592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691640"/>
            <a:ext cx="164592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5623560" y="2651760"/>
            <a:ext cx="91440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2651760"/>
            <a:ext cx="91440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8915400" y="2651760"/>
            <a:ext cx="91440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29800" y="2651760"/>
            <a:ext cx="91440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14173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095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63640" y="23774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555480" y="23774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554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349240" y="33375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492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178040" y="33375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641080" y="33375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410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469880" y="33375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4698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206240" y="4251960"/>
            <a:ext cx="7498080" cy="1783080"/>
          </a:xfrm>
          <a:prstGeom prst="roundRect">
            <a:avLst>
              <a:gd name="adj" fmla="val 6154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48056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Traversal Order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480560" y="4910328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4480560" y="4910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82896" y="48646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340096" y="4846320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5632704" y="4910328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5632704" y="4910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35040" y="48646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92240" y="4846320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6784848" y="4910328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6" name="Text 44"/>
          <p:cNvSpPr/>
          <p:nvPr/>
        </p:nvSpPr>
        <p:spPr>
          <a:xfrm>
            <a:off x="6784848" y="4910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87184" y="48646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644384" y="4846320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7936992" y="4910328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0" name="Text 48"/>
          <p:cNvSpPr/>
          <p:nvPr/>
        </p:nvSpPr>
        <p:spPr>
          <a:xfrm>
            <a:off x="7936992" y="4910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39328" y="48646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796528" y="4846320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9089136" y="4910328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4" name="Text 52"/>
          <p:cNvSpPr/>
          <p:nvPr/>
        </p:nvSpPr>
        <p:spPr>
          <a:xfrm>
            <a:off x="9089136" y="4910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491472" y="48646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948672" y="4846320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4480560" y="5367528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8" name="Text 56"/>
          <p:cNvSpPr/>
          <p:nvPr/>
        </p:nvSpPr>
        <p:spPr>
          <a:xfrm>
            <a:off x="4480560" y="5367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82896" y="53218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340096" y="5303520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61" name="Shape 59"/>
          <p:cNvSpPr/>
          <p:nvPr/>
        </p:nvSpPr>
        <p:spPr>
          <a:xfrm>
            <a:off x="5632704" y="5367528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2" name="Text 60"/>
          <p:cNvSpPr/>
          <p:nvPr/>
        </p:nvSpPr>
        <p:spPr>
          <a:xfrm>
            <a:off x="5632704" y="5367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035040" y="53218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 Challenges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4688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Inorder Traversal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25880"/>
            <a:ext cx="2971800" cy="411480"/>
          </a:xfrm>
          <a:prstGeom prst="roundRect">
            <a:avLst>
              <a:gd name="adj" fmla="val 17778"/>
            </a:avLst>
          </a:prstGeom>
          <a:solidFill>
            <a:srgbClr val="16214A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→ Root → Right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INORDER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answer before revealing it below.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Answer:  </a:t>
            </a:r>
            <a:r>
              <a:rPr lang="en-US" sz="1500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2788920" cy="9144"/>
          </a:xfrm>
          <a:prstGeom prst="line">
            <a:avLst/>
          </a:prstGeom>
          <a:noFill/>
          <a:ln w="12700">
            <a:solidFill>
              <a:srgbClr val="3A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886200"/>
            <a:ext cx="2971800" cy="1417320"/>
          </a:xfrm>
          <a:prstGeom prst="roundRect">
            <a:avLst>
              <a:gd name="adj" fmla="val 7742"/>
            </a:avLst>
          </a:prstGeom>
          <a:solidFill>
            <a:srgbClr val="1B2A17"/>
          </a:solidFill>
          <a:ln w="15875">
            <a:solidFill>
              <a:srgbClr val="6FCF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0142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ANSWER REVEAL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3434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→ 30 → 40 → 50 →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→ 70 → 80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06240" y="1051560"/>
            <a:ext cx="7498080" cy="3017520"/>
          </a:xfrm>
          <a:prstGeom prst="roundRect">
            <a:avLst>
              <a:gd name="adj" fmla="val 3636"/>
            </a:avLst>
          </a:prstGeom>
          <a:solidFill>
            <a:srgbClr val="0E1636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 flipV="1">
            <a:off x="6537960" y="1691640"/>
            <a:ext cx="164592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91640"/>
            <a:ext cx="164592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5623560" y="2651760"/>
            <a:ext cx="91440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651760"/>
            <a:ext cx="91440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915400" y="2651760"/>
            <a:ext cx="91440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29800" y="2651760"/>
            <a:ext cx="914400" cy="9601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09560" y="14173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095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23774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55480" y="23774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554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49240" y="33375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492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178040" y="33375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780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641080" y="33375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410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469880" y="33375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4698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206240" y="4251960"/>
            <a:ext cx="7498080" cy="1783080"/>
          </a:xfrm>
          <a:prstGeom prst="roundRect">
            <a:avLst>
              <a:gd name="adj" fmla="val 6154"/>
            </a:avLst>
          </a:prstGeom>
          <a:solidFill>
            <a:srgbClr val="16241B"/>
          </a:solidFill>
          <a:ln w="15875">
            <a:solidFill>
              <a:srgbClr val="6FCF97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48056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KEY OBSERVATION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80560" y="4754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Binary Search Tree, inorder traversal always produces the nodes in sorted (ascending) order.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80560" y="5440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&lt; 30 &lt; 40 &lt; 50 &lt; 60 &lt; 70 &lt; 80  — a perfectly sorted sequence.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 Challenges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4688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Postorder Traversal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65615" y="411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25880"/>
            <a:ext cx="2971800" cy="411480"/>
          </a:xfrm>
          <a:prstGeom prst="roundRect">
            <a:avLst>
              <a:gd name="adj" fmla="val 17778"/>
            </a:avLst>
          </a:prstGeom>
          <a:solidFill>
            <a:srgbClr val="16214A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→ Right → Root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POSTORDER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Answer:  </a:t>
            </a:r>
            <a:r>
              <a:rPr lang="en-US" sz="1500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2788920" cy="9144"/>
          </a:xfrm>
          <a:prstGeom prst="line">
            <a:avLst/>
          </a:prstGeom>
          <a:noFill/>
          <a:ln w="12700">
            <a:solidFill>
              <a:srgbClr val="3A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703320"/>
            <a:ext cx="2971800" cy="1508760"/>
          </a:xfrm>
          <a:prstGeom prst="roundRect">
            <a:avLst>
              <a:gd name="adj" fmla="val 7273"/>
            </a:avLst>
          </a:prstGeom>
          <a:solidFill>
            <a:srgbClr val="1B2A17"/>
          </a:solidFill>
          <a:ln w="15875">
            <a:solidFill>
              <a:srgbClr val="6FCF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8313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ANSWER REVEAL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1605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→ 35 → 30 → 20 →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→ 70 → 60 → 40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206240" y="1051560"/>
            <a:ext cx="7498080" cy="3703320"/>
          </a:xfrm>
          <a:prstGeom prst="roundRect">
            <a:avLst>
              <a:gd name="adj" fmla="val 2963"/>
            </a:avLst>
          </a:prstGeom>
          <a:solidFill>
            <a:srgbClr val="0E1636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 flipV="1">
            <a:off x="6537960" y="1554480"/>
            <a:ext cx="164592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554480"/>
            <a:ext cx="164592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5623560" y="2423160"/>
            <a:ext cx="91440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423160"/>
            <a:ext cx="91440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915400" y="2423160"/>
            <a:ext cx="91440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29800" y="2423160"/>
            <a:ext cx="91440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3291840"/>
            <a:ext cx="54864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18704" y="128930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18704" y="12893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72784" y="215798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72784" y="21579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564624" y="215798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564624" y="21579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58384" y="302666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58384" y="3026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87184" y="302666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87184" y="3026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650224" y="302666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50224" y="3026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479024" y="302666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479024" y="3026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735824" y="389534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35824" y="3895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480560" y="4343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node 30 has only a RIGHT child (35) — no left child.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206240" y="4800600"/>
            <a:ext cx="7498080" cy="1234440"/>
          </a:xfrm>
          <a:prstGeom prst="roundRect">
            <a:avLst>
              <a:gd name="adj" fmla="val 8889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480560" y="4956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Traversal Order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80560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303520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5596128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7" name="Text 45"/>
          <p:cNvSpPr/>
          <p:nvPr/>
        </p:nvSpPr>
        <p:spPr>
          <a:xfrm>
            <a:off x="5596128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61888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6419088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50" name="Shape 48"/>
          <p:cNvSpPr/>
          <p:nvPr/>
        </p:nvSpPr>
        <p:spPr>
          <a:xfrm>
            <a:off x="6711696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1" name="Text 49"/>
          <p:cNvSpPr/>
          <p:nvPr/>
        </p:nvSpPr>
        <p:spPr>
          <a:xfrm>
            <a:off x="6711696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077456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7534656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54" name="Shape 52"/>
          <p:cNvSpPr/>
          <p:nvPr/>
        </p:nvSpPr>
        <p:spPr>
          <a:xfrm>
            <a:off x="7827264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5" name="Text 53"/>
          <p:cNvSpPr/>
          <p:nvPr/>
        </p:nvSpPr>
        <p:spPr>
          <a:xfrm>
            <a:off x="7827264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193024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8650224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58" name="Shape 56"/>
          <p:cNvSpPr/>
          <p:nvPr/>
        </p:nvSpPr>
        <p:spPr>
          <a:xfrm>
            <a:off x="8942832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9" name="Text 57"/>
          <p:cNvSpPr/>
          <p:nvPr/>
        </p:nvSpPr>
        <p:spPr>
          <a:xfrm>
            <a:off x="8942832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308592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9765792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62" name="Shape 60"/>
          <p:cNvSpPr/>
          <p:nvPr/>
        </p:nvSpPr>
        <p:spPr>
          <a:xfrm>
            <a:off x="10058400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3" name="Text 61"/>
          <p:cNvSpPr/>
          <p:nvPr/>
        </p:nvSpPr>
        <p:spPr>
          <a:xfrm>
            <a:off x="10058400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424160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10881360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66" name="Shape 64"/>
          <p:cNvSpPr/>
          <p:nvPr/>
        </p:nvSpPr>
        <p:spPr>
          <a:xfrm>
            <a:off x="4480560" y="57790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7" name="Text 65"/>
          <p:cNvSpPr/>
          <p:nvPr/>
        </p:nvSpPr>
        <p:spPr>
          <a:xfrm>
            <a:off x="4480560" y="5779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846320" y="57332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5303520" y="57150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70" name="Shape 68"/>
          <p:cNvSpPr/>
          <p:nvPr/>
        </p:nvSpPr>
        <p:spPr>
          <a:xfrm>
            <a:off x="5596128" y="57790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1" name="Text 69"/>
          <p:cNvSpPr/>
          <p:nvPr/>
        </p:nvSpPr>
        <p:spPr>
          <a:xfrm>
            <a:off x="5596128" y="5779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961888" y="57332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 Challenges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4688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Level-Order Traversal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2971800" cy="411480"/>
          </a:xfrm>
          <a:prstGeom prst="roundRect">
            <a:avLst>
              <a:gd name="adj" fmla="val 17778"/>
            </a:avLst>
          </a:prstGeom>
          <a:solidFill>
            <a:srgbClr val="16214A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level by level, left → right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LEVEL-ORDER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Answer:  </a:t>
            </a:r>
            <a:r>
              <a:rPr lang="en-US" sz="1500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871216"/>
            <a:ext cx="2788920" cy="9144"/>
          </a:xfrm>
          <a:prstGeom prst="line">
            <a:avLst/>
          </a:prstGeom>
          <a:noFill/>
          <a:ln w="12700">
            <a:solidFill>
              <a:srgbClr val="3A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54096"/>
            <a:ext cx="2971800" cy="2971800"/>
          </a:xfrm>
          <a:prstGeom prst="roundRect">
            <a:avLst>
              <a:gd name="adj" fmla="val 3692"/>
            </a:avLst>
          </a:prstGeom>
          <a:solidFill>
            <a:srgbClr val="1B2A17"/>
          </a:solidFill>
          <a:ln w="15875">
            <a:solidFill>
              <a:srgbClr val="6FCF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821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ANSWER REVEAL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511296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→ 30 → 70 → 20 →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→ 80 → 25 → 75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4379976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
</a:t>
            </a: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30, 70
</a:t>
            </a: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20, 60, 80
</a:t>
            </a: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25, 75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06240" y="1051560"/>
            <a:ext cx="7498080" cy="3703320"/>
          </a:xfrm>
          <a:prstGeom prst="roundRect">
            <a:avLst>
              <a:gd name="adj" fmla="val 2963"/>
            </a:avLst>
          </a:prstGeom>
          <a:solidFill>
            <a:srgbClr val="0E1636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 flipV="1">
            <a:off x="6537960" y="1554480"/>
            <a:ext cx="164592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554480"/>
            <a:ext cx="164592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5623560" y="2423160"/>
            <a:ext cx="91440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8915400" y="2423160"/>
            <a:ext cx="91440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29800" y="2423160"/>
            <a:ext cx="91440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3291840"/>
            <a:ext cx="54864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195560" y="3291840"/>
            <a:ext cx="548640" cy="86868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18704" y="128930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18704" y="12893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72784" y="215798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72784" y="21579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564624" y="215798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564624" y="21579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58384" y="302666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58384" y="3026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50224" y="302666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50224" y="3026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479024" y="302666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479024" y="3026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07024" y="389534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07024" y="3895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930384" y="3895344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930384" y="3895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43400" y="14081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43400" y="22768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43400" y="31455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43400" y="40142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06240" y="4800600"/>
            <a:ext cx="7498080" cy="1234440"/>
          </a:xfrm>
          <a:prstGeom prst="roundRect">
            <a:avLst>
              <a:gd name="adj" fmla="val 8889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480560" y="4956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Traversal Order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80560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6" name="Text 44"/>
          <p:cNvSpPr/>
          <p:nvPr/>
        </p:nvSpPr>
        <p:spPr>
          <a:xfrm>
            <a:off x="4480560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46320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303520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5596128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0" name="Text 48"/>
          <p:cNvSpPr/>
          <p:nvPr/>
        </p:nvSpPr>
        <p:spPr>
          <a:xfrm>
            <a:off x="5596128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61888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6419088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53" name="Shape 51"/>
          <p:cNvSpPr/>
          <p:nvPr/>
        </p:nvSpPr>
        <p:spPr>
          <a:xfrm>
            <a:off x="6711696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4" name="Text 52"/>
          <p:cNvSpPr/>
          <p:nvPr/>
        </p:nvSpPr>
        <p:spPr>
          <a:xfrm>
            <a:off x="6711696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77456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7534656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57" name="Shape 55"/>
          <p:cNvSpPr/>
          <p:nvPr/>
        </p:nvSpPr>
        <p:spPr>
          <a:xfrm>
            <a:off x="7827264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8" name="Text 56"/>
          <p:cNvSpPr/>
          <p:nvPr/>
        </p:nvSpPr>
        <p:spPr>
          <a:xfrm>
            <a:off x="7827264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93024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8650224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61" name="Shape 59"/>
          <p:cNvSpPr/>
          <p:nvPr/>
        </p:nvSpPr>
        <p:spPr>
          <a:xfrm>
            <a:off x="8942832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2" name="Text 60"/>
          <p:cNvSpPr/>
          <p:nvPr/>
        </p:nvSpPr>
        <p:spPr>
          <a:xfrm>
            <a:off x="8942832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308592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9765792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65" name="Shape 63"/>
          <p:cNvSpPr/>
          <p:nvPr/>
        </p:nvSpPr>
        <p:spPr>
          <a:xfrm>
            <a:off x="10058400" y="53218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6" name="Text 64"/>
          <p:cNvSpPr/>
          <p:nvPr/>
        </p:nvSpPr>
        <p:spPr>
          <a:xfrm>
            <a:off x="10058400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424160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10881360" y="52578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69" name="Shape 67"/>
          <p:cNvSpPr/>
          <p:nvPr/>
        </p:nvSpPr>
        <p:spPr>
          <a:xfrm>
            <a:off x="4480560" y="57790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0" name="Text 68"/>
          <p:cNvSpPr/>
          <p:nvPr/>
        </p:nvSpPr>
        <p:spPr>
          <a:xfrm>
            <a:off x="4480560" y="5779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846320" y="57332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5303520" y="57150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50" dirty="0"/>
          </a:p>
        </p:txBody>
      </p:sp>
      <p:sp>
        <p:nvSpPr>
          <p:cNvPr id="73" name="Shape 71"/>
          <p:cNvSpPr/>
          <p:nvPr/>
        </p:nvSpPr>
        <p:spPr>
          <a:xfrm>
            <a:off x="5596128" y="577900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4" name="Text 72"/>
          <p:cNvSpPr/>
          <p:nvPr/>
        </p:nvSpPr>
        <p:spPr>
          <a:xfrm>
            <a:off x="5596128" y="5779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961888" y="57332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350" dirty="0"/>
          </a:p>
        </p:txBody>
      </p:sp>
      <p:sp>
        <p:nvSpPr>
          <p:cNvPr id="76" name="Text 7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 Challenges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4688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Mixed Challenge — Preorder / Inorder / Postorder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1475720" cy="3063240"/>
          </a:xfrm>
          <a:prstGeom prst="roundRect">
            <a:avLst>
              <a:gd name="adj" fmla="val 3582"/>
            </a:avLst>
          </a:prstGeom>
          <a:solidFill>
            <a:srgbClr val="0E1636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flipV="1">
            <a:off x="3520440" y="1417320"/>
            <a:ext cx="265176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17320"/>
            <a:ext cx="265176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423160" y="2148840"/>
            <a:ext cx="109728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148840"/>
            <a:ext cx="109728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7726680" y="2148840"/>
            <a:ext cx="109728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2148840"/>
            <a:ext cx="109728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508760" y="2880360"/>
            <a:ext cx="91440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2880360"/>
            <a:ext cx="96012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880360"/>
            <a:ext cx="64008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132320" y="2880360"/>
            <a:ext cx="59436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006840" y="2880360"/>
            <a:ext cx="91440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21240" y="2880360"/>
            <a:ext cx="960120" cy="731520"/>
          </a:xfrm>
          <a:prstGeom prst="line">
            <a:avLst/>
          </a:prstGeom>
          <a:noFill/>
          <a:ln w="19050">
            <a:solidFill>
              <a:srgbClr val="3A4B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34456" y="117957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34456" y="1179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82696" y="191109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82696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86216" y="191109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86216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85416" y="264261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185416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79976" y="264261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79976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88936" y="264261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88936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683496" y="264261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83496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271016" y="337413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271016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45536" y="337413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145536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0056" y="337413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0056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94576" y="337413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94576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769096" y="337413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769096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643616" y="3374136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2D3EE"/>
            </a:solidFill>
            <a:prstDash val="solid"/>
          </a:ln>
          <a:effectLst>
            <a:outerShdw blurRad="381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643616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4360" y="3794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node 45 has only a RIGHT child (50); node 75 has only a LEFT child (70).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65760" y="4206240"/>
            <a:ext cx="3675888" cy="2377440"/>
          </a:xfrm>
          <a:prstGeom prst="roundRect">
            <a:avLst>
              <a:gd name="adj" fmla="val 4615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48640" y="4352544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Preorder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48640" y="4736592"/>
            <a:ext cx="3310128" cy="1691640"/>
          </a:xfrm>
          <a:prstGeom prst="roundRect">
            <a:avLst>
              <a:gd name="adj" fmla="val 5405"/>
            </a:avLst>
          </a:prstGeom>
          <a:solidFill>
            <a:srgbClr val="1B2A17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482803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ANSWER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5800" y="5120640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→ 35 → 20 → 10 → 25 → 45 → 50 → 85 → 75 → 70 → 95 → 90 → 100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169664" y="4206240"/>
            <a:ext cx="3675888" cy="2377440"/>
          </a:xfrm>
          <a:prstGeom prst="roundRect">
            <a:avLst>
              <a:gd name="adj" fmla="val 4615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352544" y="4352544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Inorder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4352544" y="4736592"/>
            <a:ext cx="3310128" cy="1691640"/>
          </a:xfrm>
          <a:prstGeom prst="roundRect">
            <a:avLst>
              <a:gd name="adj" fmla="val 5405"/>
            </a:avLst>
          </a:prstGeom>
          <a:solidFill>
            <a:srgbClr val="1B2A17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9704" y="482803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ANSWER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489704" y="5120640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→ 20 → 25 → 35 → 45 → 50 → 60 → 70 → 75 → 85 → 90 → 95 → 100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973568" y="4206240"/>
            <a:ext cx="3675888" cy="2377440"/>
          </a:xfrm>
          <a:prstGeom prst="roundRect">
            <a:avLst>
              <a:gd name="adj" fmla="val 4615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156448" y="4352544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Postorder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8156448" y="4736592"/>
            <a:ext cx="3310128" cy="1691640"/>
          </a:xfrm>
          <a:prstGeom prst="roundRect">
            <a:avLst>
              <a:gd name="adj" fmla="val 5405"/>
            </a:avLst>
          </a:prstGeom>
          <a:solidFill>
            <a:srgbClr val="1B2A17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93608" y="482803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ANSWER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293608" y="5120640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→ 25 → 20 → 50 → 45 → 35 → 70 → 75 → 90 → 100 → 95 → 85 → 60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 Challenges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•  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From Visualization to Active Learning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6035040" cy="3520440"/>
          </a:xfrm>
          <a:prstGeom prst="roundRect">
            <a:avLst>
              <a:gd name="adj" fmla="val 3117"/>
            </a:avLst>
          </a:prstGeom>
          <a:solidFill>
            <a:srgbClr val="16214A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TOOLS ALLOW STUDENTS 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322576"/>
            <a:ext cx="237744" cy="237744"/>
          </a:xfrm>
          <a:prstGeom prst="roundRect">
            <a:avLst>
              <a:gd name="adj" fmla="val 2307692"/>
            </a:avLst>
          </a:prstGeom>
          <a:solidFill>
            <a:srgbClr val="6FCF9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042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24028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different tree structures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798064"/>
            <a:ext cx="237744" cy="237744"/>
          </a:xfrm>
          <a:prstGeom prst="roundRect">
            <a:avLst>
              <a:gd name="adj" fmla="val 2307692"/>
            </a:avLst>
          </a:prstGeom>
          <a:solidFill>
            <a:srgbClr val="6FCF9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7977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71576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traversal paths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273552"/>
            <a:ext cx="237744" cy="237744"/>
          </a:xfrm>
          <a:prstGeom prst="roundRect">
            <a:avLst>
              <a:gd name="adj" fmla="val 2307692"/>
            </a:avLst>
          </a:prstGeom>
          <a:solidFill>
            <a:srgbClr val="6FCF9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5526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19125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Preorder, Inorder, Postorder &amp; Level Order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3749040"/>
            <a:ext cx="237744" cy="237744"/>
          </a:xfrm>
          <a:prstGeom prst="roundRect">
            <a:avLst>
              <a:gd name="adj" fmla="val 2307692"/>
            </a:avLst>
          </a:prstGeom>
          <a:solidFill>
            <a:srgbClr val="6FCF9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3075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666744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answers instantly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4224528"/>
            <a:ext cx="237744" cy="237744"/>
          </a:xfrm>
          <a:prstGeom prst="roundRect">
            <a:avLst>
              <a:gd name="adj" fmla="val 2307692"/>
            </a:avLst>
          </a:prstGeom>
          <a:solidFill>
            <a:srgbClr val="6FCF9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062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414223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unlimited practice challenges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7240" y="4700016"/>
            <a:ext cx="237744" cy="237744"/>
          </a:xfrm>
          <a:prstGeom prst="roundRect">
            <a:avLst>
              <a:gd name="adj" fmla="val 2307692"/>
            </a:avLst>
          </a:prstGeom>
          <a:solidFill>
            <a:srgbClr val="6FCF9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8172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61772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traversal algorithms visually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766560" y="1691640"/>
            <a:ext cx="4937760" cy="3520440"/>
          </a:xfrm>
          <a:prstGeom prst="roundRect">
            <a:avLst>
              <a:gd name="adj" fmla="val 3117"/>
            </a:avLst>
          </a:prstGeom>
          <a:solidFill>
            <a:srgbClr val="0E1636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408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WORKFLOW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63840" y="2212848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22128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63840" y="2596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863840" y="2834640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28346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63840" y="32186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863840" y="3456432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0" y="34564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863840" y="3840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863840" y="4078224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40782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863840" y="4462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863840" y="4700016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0" y="470001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02920" y="5394960"/>
            <a:ext cx="11201400" cy="1051560"/>
          </a:xfrm>
          <a:prstGeom prst="roundRect">
            <a:avLst>
              <a:gd name="adj" fmla="val 10435"/>
            </a:avLst>
          </a:prstGeom>
          <a:solidFill>
            <a:srgbClr val="121B3E"/>
          </a:solidFill>
          <a:ln w="12700">
            <a:solidFill>
              <a:srgbClr val="22335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22960" y="553212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“Interactive tree simulators transform traversal from a memorization task into a visual problem-solving activity.”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Shahid • 192424311 • CSA0306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</TotalTime>
  <Words>993</Words>
  <Application>Microsoft Office PowerPoint</Application>
  <PresentationFormat>Widescreen</PresentationFormat>
  <Paragraphs>302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Manoj M</cp:lastModifiedBy>
  <cp:revision>2</cp:revision>
  <dcterms:created xsi:type="dcterms:W3CDTF">2026-08-17T03:29:44Z</dcterms:created>
  <dcterms:modified xsi:type="dcterms:W3CDTF">2026-08-17T05:11:57Z</dcterms:modified>
</cp:coreProperties>
</file>